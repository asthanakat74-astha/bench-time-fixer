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Montserrat Bold" panose="00000800000000000000" charset="0"/>
      <p:regular r:id="rId28"/>
    </p:embeddedFont>
    <p:embeddedFont>
      <p:font typeface="Rockwell" panose="02060603020205020403" pitchFamily="18" charset="0"/>
      <p:regular r:id="rId29"/>
      <p:bold r:id="rId30"/>
      <p:italic r:id="rId31"/>
      <p:boldItalic r:id="rId32"/>
    </p:embeddedFont>
    <p:embeddedFont>
      <p:font typeface="Squada One" panose="020B0604020202020204" charset="0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1AF73-8E14-40A4-99A1-CAA6E93A6C20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A17FC-4D7A-44D7-B80A-4B2A928DF7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8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A17FC-4D7A-44D7-B80A-4B2A928DF78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9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2904" y="1683545"/>
            <a:ext cx="13502193" cy="35814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2904" y="5403057"/>
            <a:ext cx="13502193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9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1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866" y="985840"/>
            <a:ext cx="14600268" cy="4279106"/>
          </a:xfrm>
        </p:spPr>
        <p:txBody>
          <a:bodyPr anchor="b">
            <a:normAutofit/>
          </a:bodyPr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3866" y="5403058"/>
            <a:ext cx="14600268" cy="2250281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4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401"/>
            <a:ext cx="15530642" cy="19894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693" y="3132479"/>
            <a:ext cx="7659006" cy="55543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60105" y="3132479"/>
            <a:ext cx="7641231" cy="55543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3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401"/>
            <a:ext cx="15530642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707" y="3132480"/>
            <a:ext cx="7318799" cy="1235868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0693" y="4368348"/>
            <a:ext cx="7660812" cy="4318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03005" y="3132480"/>
            <a:ext cx="7298331" cy="1235868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368348"/>
            <a:ext cx="7643036" cy="4318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1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4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6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843" y="914400"/>
            <a:ext cx="5898356" cy="35433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7096" y="914400"/>
            <a:ext cx="9284238" cy="77724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5843" y="4457700"/>
            <a:ext cx="5898356" cy="4229099"/>
          </a:xfrm>
        </p:spPr>
        <p:txBody>
          <a:bodyPr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4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841" y="914400"/>
            <a:ext cx="8894660" cy="35433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37206" y="1138322"/>
            <a:ext cx="4883034" cy="7324557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1" y="4457700"/>
            <a:ext cx="8902425" cy="42291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709" y="6434059"/>
            <a:ext cx="15551346" cy="1229033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0709" y="931982"/>
            <a:ext cx="15551346" cy="506960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7663092"/>
            <a:ext cx="15548997" cy="1023708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22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914401"/>
            <a:ext cx="15530643" cy="5137289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3" y="6307230"/>
            <a:ext cx="15530642" cy="238827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90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400"/>
            <a:ext cx="13954128" cy="4489356"/>
          </a:xfrm>
        </p:spPr>
        <p:txBody>
          <a:bodyPr anchor="ctr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415048"/>
            <a:ext cx="13128449" cy="640218"/>
          </a:xfrm>
        </p:spPr>
        <p:txBody>
          <a:bodyPr anchor="t">
            <a:normAutofit/>
          </a:bodyPr>
          <a:lstStyle>
            <a:lvl1pPr marL="0" indent="0" algn="r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1" y="6307232"/>
            <a:ext cx="15530643" cy="23795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54918" y="1102862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86934" y="445814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1257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710" y="3190414"/>
            <a:ext cx="15532991" cy="376775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0692" y="6975834"/>
            <a:ext cx="15530645" cy="1710966"/>
          </a:xfrm>
        </p:spPr>
        <p:txBody>
          <a:bodyPr anchor="t"/>
          <a:lstStyle>
            <a:lvl1pPr marL="0" indent="0" algn="ctr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5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70691" y="914401"/>
            <a:ext cx="15530643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70691" y="3132479"/>
            <a:ext cx="4948434" cy="123495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70691" y="4367436"/>
            <a:ext cx="4948434" cy="4319364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7317" y="3132480"/>
            <a:ext cx="4947837" cy="123495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667318" y="4367436"/>
            <a:ext cx="4949732" cy="4319364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59948" y="3132480"/>
            <a:ext cx="4936817" cy="123495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964520" y="4367436"/>
            <a:ext cx="4936817" cy="4319364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5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70693" y="914401"/>
            <a:ext cx="15530643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70693" y="6293849"/>
            <a:ext cx="4948433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38030" y="3448481"/>
            <a:ext cx="4410075" cy="2286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70693" y="7158242"/>
            <a:ext cx="4948433" cy="1528557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4052" y="6293849"/>
            <a:ext cx="4948475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853495" y="3448481"/>
            <a:ext cx="4395788" cy="2286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62022" y="7158240"/>
            <a:ext cx="4950504" cy="1528557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60135" y="6293849"/>
            <a:ext cx="4934850" cy="864393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000" b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29205" y="3448481"/>
            <a:ext cx="4398170" cy="2286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59947" y="7158242"/>
            <a:ext cx="4941387" cy="1528556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32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28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14399"/>
            <a:ext cx="3813986" cy="77724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692" y="914399"/>
            <a:ext cx="11488058" cy="77724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0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693" y="3144096"/>
            <a:ext cx="15530643" cy="5542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49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51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1000" y="1109136"/>
            <a:ext cx="16154400" cy="2455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83"/>
              </a:lnSpc>
            </a:pPr>
            <a:r>
              <a:rPr lang="en-US" sz="8000" b="1" spc="-601" dirty="0">
                <a:solidFill>
                  <a:srgbClr val="35DBFF"/>
                </a:solidFill>
                <a:latin typeface="Arial" panose="020B0604020202020204" pitchFamily="34" charset="0"/>
                <a:ea typeface="Squada One"/>
                <a:cs typeface="Arial" panose="020B0604020202020204" pitchFamily="34" charset="0"/>
                <a:sym typeface="Squada One"/>
              </a:rPr>
              <a:t>AI-DRIVEN   BENCH MANAGEMENT AND WORKFORCE ALLOCATION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4973" y="4914900"/>
            <a:ext cx="18288000" cy="96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4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•“FROM REACTIVE STAFFING TO PROACTIVE AI-DRIVEN WORKFORCE INTELLIGENCE.”</a:t>
            </a:r>
          </a:p>
          <a:p>
            <a:pPr algn="ctr">
              <a:lnSpc>
                <a:spcPts val="3640"/>
              </a:lnSpc>
            </a:pPr>
            <a:endParaRPr lang="en-US" sz="40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400" y="6515100"/>
            <a:ext cx="16731254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 Tech </a:t>
            </a:r>
            <a:r>
              <a:rPr lang="en-US" sz="32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Topians</a:t>
            </a: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just">
              <a:lnSpc>
                <a:spcPts val="5039"/>
              </a:lnSpc>
            </a:pP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 : Poorva Wakade, Siddhi </a:t>
            </a:r>
            <a:r>
              <a:rPr lang="en-US" sz="32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Shejwal</a:t>
            </a: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Astha Nakat, Vaishnavi Chaudhari, Shweta Patil, Samiksha Vaishnav, Riya </a:t>
            </a:r>
            <a:r>
              <a:rPr lang="en-US" sz="32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tavhare</a:t>
            </a: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just">
              <a:lnSpc>
                <a:spcPts val="5039"/>
              </a:lnSpc>
            </a:pPr>
            <a:r>
              <a:rPr lang="en-US" sz="3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College:  Bharati Vidyapeeth College of Engineering for Women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" y="1810500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462749"/>
            <a:ext cx="5069889" cy="506988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216" r="-412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876800" y="723900"/>
            <a:ext cx="9929027" cy="124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74889" y="2004463"/>
            <a:ext cx="10894011" cy="735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Large IT consulting firms manage thousands of employees across multiple projects.</a:t>
            </a:r>
          </a:p>
          <a:p>
            <a:pPr marL="496569" lvl="1" indent="-248284" algn="l">
              <a:lnSpc>
                <a:spcPts val="3219"/>
              </a:lnSpc>
              <a:buAutoNum type="arabicPeriod"/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Workforce allocation is often handled using spreadsheets or fragmented systems.</a:t>
            </a:r>
          </a:p>
          <a:p>
            <a:pPr marL="496569" lvl="1" indent="-248284" algn="l">
              <a:lnSpc>
                <a:spcPts val="3219"/>
              </a:lnSpc>
              <a:buAutoNum type="arabicPeriod"/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Limited visibility of employee availability leads to increased bench time.</a:t>
            </a:r>
          </a:p>
          <a:p>
            <a:pPr marL="496569" lvl="1" indent="-248284" algn="l">
              <a:lnSpc>
                <a:spcPts val="3219"/>
              </a:lnSpc>
              <a:buAutoNum type="arabicPeriod"/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Bench employees increase operational costs and reduce overall productivity.</a:t>
            </a:r>
          </a:p>
          <a:p>
            <a:pPr marL="496569" lvl="1" indent="-248284" algn="l">
              <a:lnSpc>
                <a:spcPts val="3219"/>
              </a:lnSpc>
              <a:buAutoNum type="arabicPeriod"/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Workforce planning becomes difficult due to scattered data and tight staffing deadlines.</a:t>
            </a:r>
          </a:p>
          <a:p>
            <a:pPr marL="496569" lvl="1" indent="-248284" algn="l">
              <a:lnSpc>
                <a:spcPts val="3219"/>
              </a:lnSpc>
              <a:buAutoNum type="arabicPeriod"/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6569" lvl="1" indent="-248284" algn="l">
              <a:lnSpc>
                <a:spcPts val="3219"/>
              </a:lnSpc>
              <a:buAutoNum type="arabicPeriod"/>
            </a:pPr>
            <a:r>
              <a:rPr lang="en-US" sz="22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There is a need for an AI-driven system to predict bench risks and optimize workforce allocation.</a:t>
            </a:r>
          </a:p>
          <a:p>
            <a:pPr marL="0" lvl="1" indent="0" algn="just">
              <a:lnSpc>
                <a:spcPts val="3219"/>
              </a:lnSpc>
              <a:spcBef>
                <a:spcPct val="0"/>
              </a:spcBef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746142" y="7721455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941974">
            <a:off x="14079552" y="-1959434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1"/>
                </a:lnTo>
                <a:lnTo>
                  <a:pt x="0" y="6001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664938" y="3695700"/>
            <a:ext cx="6468265" cy="6845155"/>
            <a:chOff x="0" y="0"/>
            <a:chExt cx="1257272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7272" cy="1274980"/>
            </a:xfrm>
            <a:custGeom>
              <a:avLst/>
              <a:gdLst/>
              <a:ahLst/>
              <a:cxnLst/>
              <a:rect l="l" t="t" r="r" b="b"/>
              <a:pathLst>
                <a:path w="1257272" h="1274980">
                  <a:moveTo>
                    <a:pt x="0" y="0"/>
                  </a:moveTo>
                  <a:lnTo>
                    <a:pt x="1257272" y="0"/>
                  </a:lnTo>
                  <a:lnTo>
                    <a:pt x="12572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43104" r="-43104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556935" y="355806"/>
            <a:ext cx="6369605" cy="124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TARGET USERS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57658"/>
            <a:ext cx="9563100" cy="6743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Primary Users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HR Managers – </a:t>
            </a:r>
            <a:r>
              <a:rPr lang="en-US" sz="2400" dirty="0"/>
              <a:t>Manage employee 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Resource Managers </a:t>
            </a:r>
            <a:r>
              <a:rPr lang="en-US" sz="2400" dirty="0"/>
              <a:t>– Allocate employees to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Project Managers – </a:t>
            </a:r>
            <a:r>
              <a:rPr lang="en-US" sz="2400" dirty="0"/>
              <a:t>Select suitable employees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Talent Teams – </a:t>
            </a:r>
            <a:r>
              <a:rPr lang="en-US" sz="2400" dirty="0"/>
              <a:t>Identify skill gaps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Business Heads – </a:t>
            </a:r>
            <a:r>
              <a:rPr lang="en-US" sz="2400" dirty="0"/>
              <a:t>Monitor workforce utilization</a:t>
            </a:r>
          </a:p>
          <a:p>
            <a:endParaRPr lang="en-US" sz="3200" b="1" dirty="0"/>
          </a:p>
          <a:p>
            <a:r>
              <a:rPr lang="en-US" sz="3200" b="1" dirty="0"/>
              <a:t>Usage Scenarios</a:t>
            </a:r>
          </a:p>
          <a:p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Project team 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Workforce allocation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Project lifecycle management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2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3032194">
            <a:off x="13502151" y="4704197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75173" y="3114258"/>
            <a:ext cx="995314" cy="939215"/>
          </a:xfrm>
          <a:custGeom>
            <a:avLst/>
            <a:gdLst/>
            <a:ahLst/>
            <a:cxnLst/>
            <a:rect l="l" t="t" r="r" b="b"/>
            <a:pathLst>
              <a:path w="995314" h="939215">
                <a:moveTo>
                  <a:pt x="0" y="0"/>
                </a:moveTo>
                <a:lnTo>
                  <a:pt x="995315" y="0"/>
                </a:lnTo>
                <a:lnTo>
                  <a:pt x="995315" y="939215"/>
                </a:lnTo>
                <a:lnTo>
                  <a:pt x="0" y="939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75173" y="5085446"/>
            <a:ext cx="1142425" cy="1078034"/>
          </a:xfrm>
          <a:custGeom>
            <a:avLst/>
            <a:gdLst/>
            <a:ahLst/>
            <a:cxnLst/>
            <a:rect l="l" t="t" r="r" b="b"/>
            <a:pathLst>
              <a:path w="1142425" h="1078034">
                <a:moveTo>
                  <a:pt x="0" y="0"/>
                </a:moveTo>
                <a:lnTo>
                  <a:pt x="1142426" y="0"/>
                </a:lnTo>
                <a:lnTo>
                  <a:pt x="1142426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62445" y="525710"/>
            <a:ext cx="11000660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PROPOSED AI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50999" y="3746500"/>
            <a:ext cx="11244085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Employee Data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Project Requirements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Historical Workforce Data 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83216" y="3391217"/>
            <a:ext cx="5792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69078" y="5677979"/>
            <a:ext cx="11244085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Employee–Project Matching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Bench Risk Prediction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Skill Demand Forecasting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Training Recommendation Engine 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Cost Optimization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56771" y="5339348"/>
            <a:ext cx="5792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9427" y="1922574"/>
            <a:ext cx="15773400" cy="3662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9"/>
              </a:lnSpc>
            </a:pPr>
            <a:r>
              <a:rPr lang="en-US" sz="2400" b="1" dirty="0">
                <a:sym typeface="Montserrat"/>
              </a:rPr>
              <a:t>Bench Time Fixer is an AI-driven workforce intelligence platform designed to optimize bench management, workforce allocation, and skill forecasting in IT consulting organizations.</a:t>
            </a:r>
          </a:p>
          <a:p>
            <a:pPr>
              <a:lnSpc>
                <a:spcPts val="3219"/>
              </a:lnSpc>
            </a:pPr>
            <a:endParaRPr lang="en-US" sz="3200" b="1" dirty="0">
              <a:sym typeface="Montserrat"/>
            </a:endParaRPr>
          </a:p>
          <a:p>
            <a:pPr>
              <a:lnSpc>
                <a:spcPts val="3219"/>
              </a:lnSpc>
            </a:pPr>
            <a:r>
              <a:rPr lang="en-US" sz="2400" b="1" dirty="0">
                <a:sym typeface="Montserrat"/>
              </a:rPr>
              <a:t>                                   Key Inputs: </a:t>
            </a:r>
          </a:p>
          <a:p>
            <a:pPr>
              <a:lnSpc>
                <a:spcPts val="3219"/>
              </a:lnSpc>
            </a:pPr>
            <a:endParaRPr lang="en-US" sz="3200" b="1" dirty="0">
              <a:sym typeface="Montserrat"/>
            </a:endParaRPr>
          </a:p>
          <a:p>
            <a:pPr>
              <a:lnSpc>
                <a:spcPts val="3219"/>
              </a:lnSpc>
            </a:pPr>
            <a:endParaRPr lang="en-US" sz="3200" b="1" dirty="0">
              <a:sym typeface="Montserrat"/>
            </a:endParaRPr>
          </a:p>
          <a:p>
            <a:pPr>
              <a:lnSpc>
                <a:spcPts val="3219"/>
              </a:lnSpc>
            </a:pPr>
            <a:endParaRPr lang="en-US" sz="3200" b="1" dirty="0">
              <a:sym typeface="Montserrat"/>
            </a:endParaRPr>
          </a:p>
          <a:p>
            <a:pPr>
              <a:lnSpc>
                <a:spcPts val="3219"/>
              </a:lnSpc>
            </a:pPr>
            <a:endParaRPr lang="en-US" sz="3200" b="1" dirty="0">
              <a:sym typeface="Montserrat"/>
            </a:endParaRPr>
          </a:p>
          <a:p>
            <a:pPr marL="0" lvl="1" indent="0">
              <a:lnSpc>
                <a:spcPts val="3219"/>
              </a:lnSpc>
              <a:spcBef>
                <a:spcPct val="0"/>
              </a:spcBef>
            </a:pPr>
            <a:r>
              <a:rPr lang="en-US" sz="2400" b="1" dirty="0">
                <a:sym typeface="Montserrat"/>
              </a:rPr>
              <a:t>                                    AI Proce s sing &amp; Models: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75173" y="7336642"/>
            <a:ext cx="1142425" cy="1078034"/>
          </a:xfrm>
          <a:custGeom>
            <a:avLst/>
            <a:gdLst/>
            <a:ahLst/>
            <a:cxnLst/>
            <a:rect l="l" t="t" r="r" b="b"/>
            <a:pathLst>
              <a:path w="1142425" h="1078034">
                <a:moveTo>
                  <a:pt x="0" y="0"/>
                </a:moveTo>
                <a:lnTo>
                  <a:pt x="1142426" y="0"/>
                </a:lnTo>
                <a:lnTo>
                  <a:pt x="1142426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56771" y="7704723"/>
            <a:ext cx="5792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31987" y="7715595"/>
            <a:ext cx="4371151" cy="379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9"/>
              </a:lnSpc>
            </a:pPr>
            <a:r>
              <a:rPr lang="en-US" sz="2400" b="1" dirty="0">
                <a:sym typeface="Canva Sans"/>
              </a:rPr>
              <a:t>Advance Capabilities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50999" y="8196558"/>
            <a:ext cx="11244085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Predictive Hiring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Dynamic Workforce Allocation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Market Trend Analysis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Freeform 16"/>
          <p:cNvSpPr/>
          <p:nvPr/>
        </p:nvSpPr>
        <p:spPr>
          <a:xfrm rot="-3032194">
            <a:off x="11832739" y="3304527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3032194">
            <a:off x="14697736" y="6074667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75173" y="3114258"/>
            <a:ext cx="995314" cy="939215"/>
          </a:xfrm>
          <a:custGeom>
            <a:avLst/>
            <a:gdLst/>
            <a:ahLst/>
            <a:cxnLst/>
            <a:rect l="l" t="t" r="r" b="b"/>
            <a:pathLst>
              <a:path w="995314" h="939215">
                <a:moveTo>
                  <a:pt x="0" y="0"/>
                </a:moveTo>
                <a:lnTo>
                  <a:pt x="995315" y="0"/>
                </a:lnTo>
                <a:lnTo>
                  <a:pt x="995315" y="939215"/>
                </a:lnTo>
                <a:lnTo>
                  <a:pt x="0" y="939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53839" y="5963797"/>
            <a:ext cx="1142425" cy="1078034"/>
          </a:xfrm>
          <a:custGeom>
            <a:avLst/>
            <a:gdLst/>
            <a:ahLst/>
            <a:cxnLst/>
            <a:rect l="l" t="t" r="r" b="b"/>
            <a:pathLst>
              <a:path w="1142425" h="1078034">
                <a:moveTo>
                  <a:pt x="0" y="0"/>
                </a:moveTo>
                <a:lnTo>
                  <a:pt x="1142426" y="0"/>
                </a:lnTo>
                <a:lnTo>
                  <a:pt x="1142426" y="1078034"/>
                </a:lnTo>
                <a:lnTo>
                  <a:pt x="0" y="1078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61951" y="583996"/>
            <a:ext cx="11000660" cy="124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PROPOSED AI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40238" y="4079491"/>
            <a:ext cx="11244085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Best employee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Bench risk alerts (Low / Medium / High)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Personalized training recommendations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Cost-optimized team suggestions and intern allocation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Hiring forecasts for future project demands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83216" y="3391217"/>
            <a:ext cx="5792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18525" y="7540712"/>
            <a:ext cx="11244085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Faster formation of project-ready teams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Reduced bench time and improved workforce utilization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Data-driven hiring and training decisions</a:t>
            </a:r>
          </a:p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Lower operational costs and higher productivity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19582" y="6348518"/>
            <a:ext cx="5792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12" name="Freeform 12"/>
          <p:cNvSpPr/>
          <p:nvPr/>
        </p:nvSpPr>
        <p:spPr>
          <a:xfrm rot="-3032194">
            <a:off x="13688407" y="5414900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247392" y="3356816"/>
            <a:ext cx="2302430" cy="383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400" b="1" dirty="0">
                <a:sym typeface="Canva Sans"/>
              </a:rPr>
              <a:t>System Output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1800" y="6401481"/>
            <a:ext cx="3341623" cy="383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400" b="1" dirty="0">
                <a:sym typeface="Canva Sans"/>
              </a:rPr>
              <a:t>Business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723900"/>
            <a:ext cx="10349612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AI TECHNIQUES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3412" y="3112174"/>
            <a:ext cx="11274400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Employee–Project Matching</a:t>
            </a:r>
            <a:r>
              <a:rPr lang="en-US" altLang="en-US" sz="2400" dirty="0">
                <a:latin typeface="Arial" panose="020B0604020202020204" pitchFamily="34" charset="0"/>
              </a:rPr>
              <a:t> – Skill embeddings + cosine similarity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Bench Risk Prediction</a:t>
            </a:r>
            <a:r>
              <a:rPr lang="en-US" altLang="en-US" sz="2400" dirty="0">
                <a:latin typeface="Arial" panose="020B0604020202020204" pitchFamily="34" charset="0"/>
              </a:rPr>
              <a:t> – Random Forest, </a:t>
            </a:r>
            <a:r>
              <a:rPr lang="en-US" altLang="en-US" sz="2400" dirty="0" err="1">
                <a:latin typeface="Arial" panose="020B0604020202020204" pitchFamily="34" charset="0"/>
              </a:rPr>
              <a:t>XGBoost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Skill Demand Forecasting</a:t>
            </a:r>
            <a:r>
              <a:rPr lang="en-US" altLang="en-US" sz="2400" dirty="0">
                <a:latin typeface="Arial" panose="020B0604020202020204" pitchFamily="34" charset="0"/>
              </a:rPr>
              <a:t> – ARIMA, Prophet, LSTM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Training Recommendations</a:t>
            </a:r>
            <a:r>
              <a:rPr lang="en-US" altLang="en-US" sz="2400" dirty="0">
                <a:latin typeface="Arial" panose="020B0604020202020204" pitchFamily="34" charset="0"/>
              </a:rPr>
              <a:t> – Collaborative filtering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Cost Optimization</a:t>
            </a:r>
            <a:r>
              <a:rPr lang="en-US" altLang="en-US" sz="2400" dirty="0">
                <a:latin typeface="Arial" panose="020B0604020202020204" pitchFamily="34" charset="0"/>
              </a:rPr>
              <a:t> – Linear / Integer programming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Advanced Capabilities</a:t>
            </a:r>
            <a:r>
              <a:rPr lang="en-US" altLang="en-US" sz="2400" dirty="0">
                <a:latin typeface="Arial" panose="020B0604020202020204" pitchFamily="34" charset="0"/>
              </a:rPr>
              <a:t> – Predictive hiring &amp; dynamic workforce allocation 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887200" y="0"/>
            <a:ext cx="6400800" cy="11355780"/>
            <a:chOff x="0" y="0"/>
            <a:chExt cx="6460190" cy="9903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0190" cy="9903454"/>
            </a:xfrm>
            <a:custGeom>
              <a:avLst/>
              <a:gdLst/>
              <a:ahLst/>
              <a:cxnLst/>
              <a:rect l="l" t="t" r="r" b="b"/>
              <a:pathLst>
                <a:path w="6460190" h="9903454">
                  <a:moveTo>
                    <a:pt x="5787254" y="0"/>
                  </a:moveTo>
                  <a:lnTo>
                    <a:pt x="672936" y="0"/>
                  </a:lnTo>
                  <a:cubicBezTo>
                    <a:pt x="301476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5787254" y="9903454"/>
                  </a:lnTo>
                  <a:cubicBezTo>
                    <a:pt x="6158715" y="9903454"/>
                    <a:pt x="6460190" y="9441293"/>
                    <a:pt x="6460190" y="8871844"/>
                  </a:cubicBezTo>
                  <a:lnTo>
                    <a:pt x="6460190" y="0"/>
                  </a:lnTo>
                  <a:lnTo>
                    <a:pt x="5787254" y="0"/>
                  </a:lnTo>
                  <a:close/>
                </a:path>
              </a:pathLst>
            </a:custGeom>
            <a:blipFill>
              <a:blip r:embed="rId2"/>
              <a:stretch>
                <a:fillRect l="-65046" r="-6504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744200" y="982993"/>
            <a:ext cx="8420100" cy="8321014"/>
          </a:xfrm>
          <a:custGeom>
            <a:avLst/>
            <a:gdLst/>
            <a:ahLst/>
            <a:cxnLst/>
            <a:rect l="l" t="t" r="r" b="b"/>
            <a:pathLst>
              <a:path w="9828918" h="9274924">
                <a:moveTo>
                  <a:pt x="0" y="0"/>
                </a:moveTo>
                <a:lnTo>
                  <a:pt x="9828918" y="0"/>
                </a:lnTo>
                <a:lnTo>
                  <a:pt x="9828918" y="9274924"/>
                </a:lnTo>
                <a:lnTo>
                  <a:pt x="0" y="9274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11345511" y="2220827"/>
            <a:ext cx="6781800" cy="67818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216" r="-412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71600" y="647700"/>
            <a:ext cx="10175436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7820" y="3086100"/>
            <a:ext cx="9289179" cy="4836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 HTML, CSS, JavaScript* React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 Python* Flask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 Scikit-learn* Pandas* NumPy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Database*</a:t>
            </a: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CSV-based employee dataset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Tools</a:t>
            </a:r>
            <a:r>
              <a:rPr lang="en-US" sz="27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 VS Code* GitHub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 lang="en-US" sz="27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471649" y="1485900"/>
            <a:ext cx="6705600" cy="8724900"/>
            <a:chOff x="0" y="0"/>
            <a:chExt cx="5222731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22731" cy="6350000"/>
            </a:xfrm>
            <a:custGeom>
              <a:avLst/>
              <a:gdLst/>
              <a:ahLst/>
              <a:cxnLst/>
              <a:rect l="l" t="t" r="r" b="b"/>
              <a:pathLst>
                <a:path w="5222731" h="6350000">
                  <a:moveTo>
                    <a:pt x="5222731" y="0"/>
                  </a:moveTo>
                  <a:lnTo>
                    <a:pt x="5222731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2338335" y="0"/>
                    <a:pt x="5222731" y="0"/>
                  </a:cubicBezTo>
                  <a:close/>
                </a:path>
              </a:pathLst>
            </a:custGeom>
            <a:blipFill>
              <a:blip r:embed="rId2"/>
              <a:stretch>
                <a:fillRect l="-42876" r="-4287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90600" y="3619500"/>
            <a:ext cx="9525000" cy="5183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AI Skill Matching Engine</a:t>
            </a:r>
            <a:r>
              <a:rPr lang="en-US" altLang="en-US" sz="2100" dirty="0">
                <a:latin typeface="Arial" panose="020B0604020202020204" pitchFamily="34" charset="0"/>
              </a:rPr>
              <a:t> – Matches employees to projects using skill similarity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Bench Time Prediction</a:t>
            </a:r>
            <a:r>
              <a:rPr lang="en-US" altLang="en-US" sz="2100" dirty="0">
                <a:latin typeface="Arial" panose="020B0604020202020204" pitchFamily="34" charset="0"/>
              </a:rPr>
              <a:t> – Predicts employee bench risk levels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Workforce Digital Twin</a:t>
            </a:r>
            <a:r>
              <a:rPr lang="en-US" altLang="en-US" sz="2100" dirty="0">
                <a:latin typeface="Arial" panose="020B0604020202020204" pitchFamily="34" charset="0"/>
              </a:rPr>
              <a:t> – Simulates future workforce scenarios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AI Workforce Health Score</a:t>
            </a:r>
            <a:r>
              <a:rPr lang="en-US" altLang="en-US" sz="2100" dirty="0">
                <a:latin typeface="Arial" panose="020B0604020202020204" pitchFamily="34" charset="0"/>
              </a:rPr>
              <a:t> – Measures overall workforce performance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Project Success Predictor</a:t>
            </a:r>
            <a:r>
              <a:rPr lang="en-US" altLang="en-US" sz="2100" dirty="0">
                <a:latin typeface="Arial" panose="020B0604020202020204" pitchFamily="34" charset="0"/>
              </a:rPr>
              <a:t> – Predicts project success probability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Skill Demand Scanner</a:t>
            </a:r>
            <a:r>
              <a:rPr lang="en-US" altLang="en-US" sz="2100" dirty="0">
                <a:latin typeface="Arial" panose="020B0604020202020204" pitchFamily="34" charset="0"/>
              </a:rPr>
              <a:t> – Identifies emerging skills and trends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HR Analytics Dashboard</a:t>
            </a:r>
            <a:r>
              <a:rPr lang="en-US" altLang="en-US" sz="2100" dirty="0">
                <a:latin typeface="Arial" panose="020B0604020202020204" pitchFamily="34" charset="0"/>
              </a:rPr>
              <a:t> – Shows workforce insights and utilization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1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Arial" panose="020B0604020202020204" pitchFamily="34" charset="0"/>
              </a:rPr>
              <a:t>AI HR Chatbot</a:t>
            </a:r>
            <a:r>
              <a:rPr lang="en-US" altLang="en-US" sz="2100" dirty="0">
                <a:latin typeface="Arial" panose="020B0604020202020204" pitchFamily="34" charset="0"/>
              </a:rPr>
              <a:t> – Helps managers query workforce data quickly</a:t>
            </a:r>
          </a:p>
          <a:p>
            <a:pPr marL="0" lvl="1" indent="0" algn="just">
              <a:lnSpc>
                <a:spcPts val="2800"/>
              </a:lnSpc>
              <a:spcBef>
                <a:spcPct val="0"/>
              </a:spcBef>
            </a:pPr>
            <a:endParaRPr lang="en-US" sz="2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2307" y="1333500"/>
            <a:ext cx="9827176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80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KEY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4099498" y="1983698"/>
            <a:ext cx="3159802" cy="6319604"/>
            <a:chOff x="0" y="0"/>
            <a:chExt cx="3331210" cy="66624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1210" cy="6662420"/>
            </a:xfrm>
            <a:custGeom>
              <a:avLst/>
              <a:gdLst/>
              <a:ahLst/>
              <a:cxnLst/>
              <a:rect l="l" t="t" r="r" b="b"/>
              <a:pathLst>
                <a:path w="3331210" h="6662420">
                  <a:moveTo>
                    <a:pt x="3331210" y="3331210"/>
                  </a:moveTo>
                  <a:lnTo>
                    <a:pt x="3331210" y="6662420"/>
                  </a:lnTo>
                  <a:cubicBezTo>
                    <a:pt x="1490980" y="6662420"/>
                    <a:pt x="0" y="5170170"/>
                    <a:pt x="0" y="3331210"/>
                  </a:cubicBezTo>
                  <a:cubicBezTo>
                    <a:pt x="0" y="149225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2"/>
              <a:stretch>
                <a:fillRect l="-133946" r="-13394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939696" y="1983698"/>
            <a:ext cx="3159802" cy="6319604"/>
            <a:chOff x="0" y="0"/>
            <a:chExt cx="317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5000" cy="6350000"/>
            </a:xfrm>
            <a:custGeom>
              <a:avLst/>
              <a:gdLst/>
              <a:ahLst/>
              <a:cxnLst/>
              <a:rect l="l" t="t" r="r" b="b"/>
              <a:pathLst>
                <a:path w="3175000" h="6350000">
                  <a:moveTo>
                    <a:pt x="3175000" y="3175000"/>
                  </a:moveTo>
                  <a:cubicBezTo>
                    <a:pt x="3175000" y="4928502"/>
                    <a:pt x="1753502" y="6350000"/>
                    <a:pt x="0" y="6350000"/>
                  </a:cubicBezTo>
                  <a:lnTo>
                    <a:pt x="0" y="0"/>
                  </a:lnTo>
                  <a:cubicBezTo>
                    <a:pt x="1753502" y="0"/>
                    <a:pt x="3175000" y="1421498"/>
                    <a:pt x="3175000" y="3175000"/>
                  </a:cubicBezTo>
                  <a:close/>
                </a:path>
              </a:pathLst>
            </a:custGeom>
            <a:blipFill>
              <a:blip r:embed="rId3"/>
              <a:stretch>
                <a:fillRect l="-100273" r="-10027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2929750">
            <a:off x="12365450" y="7912088"/>
            <a:ext cx="3468096" cy="3272622"/>
          </a:xfrm>
          <a:custGeom>
            <a:avLst/>
            <a:gdLst/>
            <a:ahLst/>
            <a:cxnLst/>
            <a:rect l="l" t="t" r="r" b="b"/>
            <a:pathLst>
              <a:path w="3468096" h="3272622">
                <a:moveTo>
                  <a:pt x="0" y="0"/>
                </a:moveTo>
                <a:lnTo>
                  <a:pt x="3468096" y="0"/>
                </a:lnTo>
                <a:lnTo>
                  <a:pt x="3468096" y="3272622"/>
                </a:lnTo>
                <a:lnTo>
                  <a:pt x="0" y="3272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529185" y="816712"/>
            <a:ext cx="8560018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MARKET RESEARCH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3238500"/>
            <a:ext cx="9157455" cy="481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Large IT firms manage thousands of employees across projects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Efficient workforce allocation reduces bench time and costs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Arial" panose="020B0604020202020204" pitchFamily="34" charset="0"/>
              </a:rPr>
              <a:t>Existing AI Talent Platforms:</a:t>
            </a:r>
            <a:r>
              <a:rPr lang="en-US" altLang="en-US" sz="3200" dirty="0">
                <a:latin typeface="Arial" panose="020B0604020202020204" pitchFamily="34" charset="0"/>
              </a:rPr>
              <a:t> Gloat, Eightfold.ai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Arial" panose="020B0604020202020204" pitchFamily="34" charset="0"/>
              </a:rPr>
              <a:t>Workforce Intelligence Tools:</a:t>
            </a: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</a:rPr>
              <a:t>SkyHive</a:t>
            </a:r>
            <a:r>
              <a:rPr lang="en-US" altLang="en-US" sz="3200" dirty="0">
                <a:latin typeface="Arial" panose="020B0604020202020204" pitchFamily="34" charset="0"/>
              </a:rPr>
              <a:t>, </a:t>
            </a:r>
            <a:r>
              <a:rPr lang="en-US" altLang="en-US" sz="3200" dirty="0" err="1">
                <a:latin typeface="Arial" panose="020B0604020202020204" pitchFamily="34" charset="0"/>
              </a:rPr>
              <a:t>iMocha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533400" y="1028700"/>
            <a:ext cx="6359496" cy="6001051"/>
          </a:xfrm>
          <a:custGeom>
            <a:avLst/>
            <a:gdLst/>
            <a:ahLst/>
            <a:cxnLst/>
            <a:rect l="l" t="t" r="r" b="b"/>
            <a:pathLst>
              <a:path w="6359496" h="6001051">
                <a:moveTo>
                  <a:pt x="0" y="0"/>
                </a:moveTo>
                <a:lnTo>
                  <a:pt x="6359496" y="0"/>
                </a:lnTo>
                <a:lnTo>
                  <a:pt x="6359496" y="6001052"/>
                </a:lnTo>
                <a:lnTo>
                  <a:pt x="0" y="600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96983" y="1795417"/>
            <a:ext cx="5069889" cy="506988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216" r="-4121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862416" y="406400"/>
            <a:ext cx="9929027" cy="124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INNOVATION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0D0D6-1150-0858-7A12-E58D66F8BFEA}"/>
              </a:ext>
            </a:extLst>
          </p:cNvPr>
          <p:cNvSpPr txBox="1"/>
          <p:nvPr/>
        </p:nvSpPr>
        <p:spPr>
          <a:xfrm>
            <a:off x="6858000" y="1943100"/>
            <a:ext cx="11023945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Bench Time Fixer</a:t>
            </a:r>
          </a:p>
          <a:p>
            <a:endParaRPr lang="en-IN" sz="2800" b="1" dirty="0"/>
          </a:p>
          <a:p>
            <a:r>
              <a:rPr lang="en-IN" sz="2800" b="1" dirty="0"/>
              <a:t>Skill Matching</a:t>
            </a:r>
            <a:r>
              <a:rPr lang="en-IN" sz="2800" dirty="0"/>
              <a:t> – Best-fit staffing</a:t>
            </a:r>
          </a:p>
          <a:p>
            <a:endParaRPr lang="en-IN" sz="2800" dirty="0"/>
          </a:p>
          <a:p>
            <a:r>
              <a:rPr lang="en-IN" sz="2800" b="1" dirty="0"/>
              <a:t>Bench Prediction</a:t>
            </a:r>
            <a:r>
              <a:rPr lang="en-IN" sz="2800" dirty="0"/>
              <a:t> – Forecast idle time</a:t>
            </a:r>
          </a:p>
          <a:p>
            <a:endParaRPr lang="en-IN" sz="2800" dirty="0"/>
          </a:p>
          <a:p>
            <a:r>
              <a:rPr lang="en-IN" sz="2800" b="1" dirty="0"/>
              <a:t>Smart Utilization</a:t>
            </a:r>
            <a:r>
              <a:rPr lang="en-IN" sz="2800" dirty="0"/>
              <a:t> – Training &amp; mentoring options</a:t>
            </a:r>
          </a:p>
          <a:p>
            <a:endParaRPr lang="en-IN" sz="2800" dirty="0"/>
          </a:p>
          <a:p>
            <a:r>
              <a:rPr lang="en-IN" sz="2800" b="1" dirty="0"/>
              <a:t>Explainable AI</a:t>
            </a:r>
            <a:r>
              <a:rPr lang="en-IN" sz="2800" dirty="0"/>
              <a:t> – Transparent decisions</a:t>
            </a:r>
          </a:p>
          <a:p>
            <a:endParaRPr lang="en-IN" sz="2800" dirty="0"/>
          </a:p>
          <a:p>
            <a:r>
              <a:rPr lang="en-IN" sz="2800" b="1" dirty="0"/>
              <a:t>Future Skills</a:t>
            </a:r>
            <a:r>
              <a:rPr lang="en-IN" sz="2800" dirty="0"/>
              <a:t> – AI, Cloud, Cybersecurity trends</a:t>
            </a:r>
          </a:p>
          <a:p>
            <a:endParaRPr lang="en-IN" sz="2800" dirty="0"/>
          </a:p>
          <a:p>
            <a:r>
              <a:rPr lang="en-IN" sz="2800" b="1" dirty="0"/>
              <a:t>HR Assistant</a:t>
            </a:r>
            <a:r>
              <a:rPr lang="en-IN" sz="2800" dirty="0"/>
              <a:t> – Conversational team planning</a:t>
            </a:r>
          </a:p>
          <a:p>
            <a:endParaRPr lang="en-IN" sz="2800" dirty="0"/>
          </a:p>
          <a:p>
            <a:r>
              <a:rPr lang="en-IN" sz="2800" b="1" dirty="0"/>
              <a:t>Innovation:</a:t>
            </a:r>
            <a:br>
              <a:rPr lang="en-IN" sz="2800" dirty="0"/>
            </a:br>
            <a:r>
              <a:rPr lang="en-IN" sz="2800" dirty="0"/>
              <a:t>From </a:t>
            </a:r>
            <a:r>
              <a:rPr lang="en-IN" sz="2800" b="1" dirty="0"/>
              <a:t>reactive</a:t>
            </a:r>
            <a:r>
              <a:rPr lang="en-IN" sz="2800" dirty="0"/>
              <a:t> to </a:t>
            </a:r>
            <a:r>
              <a:rPr lang="en-IN" sz="2800" b="1" dirty="0"/>
              <a:t>proactive</a:t>
            </a:r>
            <a:r>
              <a:rPr lang="en-IN" sz="2800" dirty="0"/>
              <a:t> workforce planning in one AI-driven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4362" y="544513"/>
            <a:ext cx="10349612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RESPONSIBLE AI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2857500"/>
            <a:ext cx="10492175" cy="550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Reduced Bench Time</a:t>
            </a:r>
            <a:r>
              <a:rPr lang="en-US" altLang="en-US" sz="2800" dirty="0">
                <a:latin typeface="Arial" panose="020B0604020202020204" pitchFamily="34" charset="0"/>
              </a:rPr>
              <a:t> – From ~45 days to ~20 days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Better Workforce Utilization</a:t>
            </a:r>
            <a:r>
              <a:rPr lang="en-US" altLang="en-US" sz="2800" dirty="0">
                <a:latin typeface="Arial" panose="020B0604020202020204" pitchFamily="34" charset="0"/>
              </a:rPr>
              <a:t> – Skill-based employee allocation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Lower Operational Costs</a:t>
            </a:r>
            <a:r>
              <a:rPr lang="en-US" altLang="en-US" sz="2800" dirty="0">
                <a:latin typeface="Arial" panose="020B0604020202020204" pitchFamily="34" charset="0"/>
              </a:rPr>
              <a:t> – Reduced idle resources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Efficient Project Staffing</a:t>
            </a:r>
            <a:r>
              <a:rPr lang="en-US" altLang="en-US" sz="2800" dirty="0">
                <a:latin typeface="Arial" panose="020B0604020202020204" pitchFamily="34" charset="0"/>
              </a:rPr>
              <a:t> – Faster candidate selection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Intern Opportunities</a:t>
            </a:r>
            <a:r>
              <a:rPr lang="en-US" altLang="en-US" sz="2800" dirty="0">
                <a:latin typeface="Arial" panose="020B0604020202020204" pitchFamily="34" charset="0"/>
              </a:rPr>
              <a:t> – Smart internship allocation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Data-Driven Decisions</a:t>
            </a:r>
            <a:r>
              <a:rPr lang="en-US" altLang="en-US" sz="2800" dirty="0">
                <a:latin typeface="Arial" panose="020B0604020202020204" pitchFamily="34" charset="0"/>
              </a:rPr>
              <a:t> – AI-based workforce insights</a:t>
            </a:r>
          </a:p>
          <a:p>
            <a:pPr algn="just">
              <a:lnSpc>
                <a:spcPts val="3398"/>
              </a:lnSpc>
            </a:pPr>
            <a:r>
              <a:rPr lang="en-US" sz="2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1" indent="0" algn="just">
              <a:lnSpc>
                <a:spcPts val="2838"/>
              </a:lnSpc>
              <a:spcBef>
                <a:spcPct val="0"/>
              </a:spcBef>
            </a:pPr>
            <a:endParaRPr lang="en-US" sz="20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2268200" y="-189295"/>
            <a:ext cx="7407567" cy="11355780"/>
            <a:chOff x="0" y="0"/>
            <a:chExt cx="6460190" cy="9903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0190" cy="9903454"/>
            </a:xfrm>
            <a:custGeom>
              <a:avLst/>
              <a:gdLst/>
              <a:ahLst/>
              <a:cxnLst/>
              <a:rect l="l" t="t" r="r" b="b"/>
              <a:pathLst>
                <a:path w="6460190" h="9903454">
                  <a:moveTo>
                    <a:pt x="5787254" y="0"/>
                  </a:moveTo>
                  <a:lnTo>
                    <a:pt x="672936" y="0"/>
                  </a:lnTo>
                  <a:cubicBezTo>
                    <a:pt x="301476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5787254" y="9903454"/>
                  </a:lnTo>
                  <a:cubicBezTo>
                    <a:pt x="6158715" y="9903454"/>
                    <a:pt x="6460190" y="9441293"/>
                    <a:pt x="6460190" y="8871844"/>
                  </a:cubicBezTo>
                  <a:lnTo>
                    <a:pt x="6460190" y="0"/>
                  </a:lnTo>
                  <a:lnTo>
                    <a:pt x="5787254" y="0"/>
                  </a:lnTo>
                  <a:close/>
                </a:path>
              </a:pathLst>
            </a:custGeom>
            <a:blipFill>
              <a:blip r:embed="rId2"/>
              <a:stretch>
                <a:fillRect l="-65046" r="-6504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876300"/>
            <a:ext cx="10349612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IMPACT &amp; BENEFITS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2781300"/>
            <a:ext cx="10492175" cy="641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000" b="1" dirty="0"/>
              <a:t>AI Workforce Planning</a:t>
            </a:r>
          </a:p>
          <a:p>
            <a:endParaRPr lang="en-IN" sz="3000" dirty="0"/>
          </a:p>
          <a:p>
            <a:r>
              <a:rPr lang="en-IN" sz="3000" b="1" dirty="0"/>
              <a:t>Bench ↓</a:t>
            </a:r>
            <a:r>
              <a:rPr lang="en-IN" sz="3000" dirty="0"/>
              <a:t>: 45 → 20 days</a:t>
            </a:r>
          </a:p>
          <a:p>
            <a:endParaRPr lang="en-IN" sz="3000" dirty="0"/>
          </a:p>
          <a:p>
            <a:r>
              <a:rPr lang="en-IN" sz="3000" b="1" dirty="0"/>
              <a:t>Utilization ↑</a:t>
            </a:r>
            <a:r>
              <a:rPr lang="en-IN" sz="3000" dirty="0"/>
              <a:t>: Skills + availability match</a:t>
            </a:r>
          </a:p>
          <a:p>
            <a:endParaRPr lang="en-IN" sz="3000" dirty="0"/>
          </a:p>
          <a:p>
            <a:r>
              <a:rPr lang="en-IN" sz="3000" b="1" dirty="0"/>
              <a:t>Costs ↓</a:t>
            </a:r>
            <a:r>
              <a:rPr lang="en-IN" sz="3000" dirty="0"/>
              <a:t>: Less idle time</a:t>
            </a:r>
          </a:p>
          <a:p>
            <a:endParaRPr lang="en-IN" sz="3000" dirty="0"/>
          </a:p>
          <a:p>
            <a:r>
              <a:rPr lang="en-IN" sz="3000" b="1" dirty="0"/>
              <a:t>Staffing ↑</a:t>
            </a:r>
            <a:r>
              <a:rPr lang="en-IN" sz="3000" dirty="0"/>
              <a:t>: Faster candidate fit</a:t>
            </a:r>
          </a:p>
          <a:p>
            <a:endParaRPr lang="en-IN" sz="3000" dirty="0"/>
          </a:p>
          <a:p>
            <a:r>
              <a:rPr lang="en-IN" sz="3000" b="1" dirty="0"/>
              <a:t>Interns ↑</a:t>
            </a:r>
            <a:r>
              <a:rPr lang="en-IN" sz="3000" dirty="0"/>
              <a:t>: Smart allocation</a:t>
            </a:r>
          </a:p>
          <a:p>
            <a:endParaRPr lang="en-IN" sz="3000" dirty="0"/>
          </a:p>
          <a:p>
            <a:r>
              <a:rPr lang="en-IN" sz="3000" b="1" dirty="0"/>
              <a:t>Decisions ↑</a:t>
            </a:r>
            <a:r>
              <a:rPr lang="en-IN" sz="3000" dirty="0"/>
              <a:t>: Data-driven HR</a:t>
            </a:r>
          </a:p>
          <a:p>
            <a:pPr marL="0" lvl="1" indent="0" algn="just">
              <a:lnSpc>
                <a:spcPts val="322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2573000" y="410198"/>
            <a:ext cx="5257800" cy="8991600"/>
            <a:chOff x="0" y="0"/>
            <a:chExt cx="6460190" cy="9903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0190" cy="9903454"/>
            </a:xfrm>
            <a:custGeom>
              <a:avLst/>
              <a:gdLst/>
              <a:ahLst/>
              <a:cxnLst/>
              <a:rect l="l" t="t" r="r" b="b"/>
              <a:pathLst>
                <a:path w="6460190" h="9903454">
                  <a:moveTo>
                    <a:pt x="5787254" y="0"/>
                  </a:moveTo>
                  <a:lnTo>
                    <a:pt x="672936" y="0"/>
                  </a:lnTo>
                  <a:cubicBezTo>
                    <a:pt x="301476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5787254" y="9903454"/>
                  </a:lnTo>
                  <a:cubicBezTo>
                    <a:pt x="6158715" y="9903454"/>
                    <a:pt x="6460190" y="9441293"/>
                    <a:pt x="6460190" y="8871844"/>
                  </a:cubicBezTo>
                  <a:lnTo>
                    <a:pt x="6460190" y="0"/>
                  </a:lnTo>
                  <a:lnTo>
                    <a:pt x="5787254" y="0"/>
                  </a:lnTo>
                  <a:close/>
                </a:path>
              </a:pathLst>
            </a:custGeom>
            <a:blipFill>
              <a:blip r:embed="rId2"/>
              <a:stretch>
                <a:fillRect l="-67103" r="-67103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460348" y="1171800"/>
            <a:ext cx="10349612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ENHANCEMENTS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32419" y="3936061"/>
            <a:ext cx="10492175" cy="453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b="1" dirty="0"/>
              <a:t>Smart Workforce Tools</a:t>
            </a:r>
          </a:p>
          <a:p>
            <a:endParaRPr lang="en-US" sz="3000" b="1" dirty="0"/>
          </a:p>
          <a:p>
            <a:r>
              <a:rPr lang="en-US" sz="3000" b="1" dirty="0"/>
              <a:t>Mobile App</a:t>
            </a:r>
            <a:r>
              <a:rPr lang="en-US" sz="3000" dirty="0"/>
              <a:t>: Manager access on the go</a:t>
            </a:r>
          </a:p>
          <a:p>
            <a:endParaRPr lang="en-US" sz="3000" dirty="0"/>
          </a:p>
          <a:p>
            <a:r>
              <a:rPr lang="en-US" sz="3000" b="1" dirty="0"/>
              <a:t>Email Alerts</a:t>
            </a:r>
            <a:r>
              <a:rPr lang="en-US" sz="3000" dirty="0"/>
              <a:t>: Bench &amp; staffing updates</a:t>
            </a:r>
          </a:p>
          <a:p>
            <a:endParaRPr lang="en-US" sz="3000" dirty="0"/>
          </a:p>
          <a:p>
            <a:r>
              <a:rPr lang="en-US" sz="3000" b="1" dirty="0"/>
              <a:t>HR Integration</a:t>
            </a:r>
            <a:r>
              <a:rPr lang="en-US" sz="3000" dirty="0"/>
              <a:t>: Seamless data sync</a:t>
            </a:r>
          </a:p>
          <a:p>
            <a:endParaRPr lang="en-US" sz="3000" dirty="0"/>
          </a:p>
          <a:p>
            <a:r>
              <a:rPr lang="en-US" sz="3000" b="1" dirty="0"/>
              <a:t>Skill Forecasting</a:t>
            </a:r>
            <a:r>
              <a:rPr lang="en-US" sz="3000" dirty="0"/>
              <a:t>: Predict future needs</a:t>
            </a:r>
          </a:p>
          <a:p>
            <a:pPr marL="0" lvl="1" indent="0" algn="just">
              <a:lnSpc>
                <a:spcPts val="3220"/>
              </a:lnSpc>
              <a:spcBef>
                <a:spcPct val="0"/>
              </a:spcBef>
            </a:pPr>
            <a:endParaRPr lang="en-US" sz="23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57200" y="723900"/>
            <a:ext cx="5399193" cy="8229600"/>
            <a:chOff x="0" y="0"/>
            <a:chExt cx="6460190" cy="9903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0190" cy="9903454"/>
            </a:xfrm>
            <a:custGeom>
              <a:avLst/>
              <a:gdLst/>
              <a:ahLst/>
              <a:cxnLst/>
              <a:rect l="l" t="t" r="r" b="b"/>
              <a:pathLst>
                <a:path w="6460190" h="9903454">
                  <a:moveTo>
                    <a:pt x="5787254" y="0"/>
                  </a:moveTo>
                  <a:lnTo>
                    <a:pt x="672936" y="0"/>
                  </a:lnTo>
                  <a:cubicBezTo>
                    <a:pt x="301476" y="0"/>
                    <a:pt x="0" y="462161"/>
                    <a:pt x="0" y="1031610"/>
                  </a:cubicBezTo>
                  <a:lnTo>
                    <a:pt x="0" y="9903454"/>
                  </a:lnTo>
                  <a:lnTo>
                    <a:pt x="5787254" y="9903454"/>
                  </a:lnTo>
                  <a:cubicBezTo>
                    <a:pt x="6158715" y="9903454"/>
                    <a:pt x="6460190" y="9441293"/>
                    <a:pt x="6460190" y="8871844"/>
                  </a:cubicBezTo>
                  <a:lnTo>
                    <a:pt x="6460190" y="0"/>
                  </a:lnTo>
                  <a:lnTo>
                    <a:pt x="5787254" y="0"/>
                  </a:lnTo>
                  <a:close/>
                </a:path>
              </a:pathLst>
            </a:custGeom>
            <a:blipFill>
              <a:blip r:embed="rId3"/>
              <a:stretch>
                <a:fillRect l="-90994" r="-90994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3032194">
            <a:off x="15790641" y="547852"/>
            <a:ext cx="2559125" cy="2414883"/>
          </a:xfrm>
          <a:custGeom>
            <a:avLst/>
            <a:gdLst/>
            <a:ahLst/>
            <a:cxnLst/>
            <a:rect l="l" t="t" r="r" b="b"/>
            <a:pathLst>
              <a:path w="2559125" h="2414883">
                <a:moveTo>
                  <a:pt x="0" y="0"/>
                </a:moveTo>
                <a:lnTo>
                  <a:pt x="2559125" y="0"/>
                </a:lnTo>
                <a:lnTo>
                  <a:pt x="2559125" y="2414884"/>
                </a:lnTo>
                <a:lnTo>
                  <a:pt x="0" y="2414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699999">
            <a:off x="4275979" y="8094189"/>
            <a:ext cx="4855520" cy="4581845"/>
          </a:xfrm>
          <a:custGeom>
            <a:avLst/>
            <a:gdLst/>
            <a:ahLst/>
            <a:cxnLst/>
            <a:rect l="l" t="t" r="r" b="b"/>
            <a:pathLst>
              <a:path w="4855520" h="4581845">
                <a:moveTo>
                  <a:pt x="0" y="0"/>
                </a:moveTo>
                <a:lnTo>
                  <a:pt x="4855520" y="0"/>
                </a:lnTo>
                <a:lnTo>
                  <a:pt x="4855520" y="4581845"/>
                </a:lnTo>
                <a:lnTo>
                  <a:pt x="0" y="4581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203050" y="1964820"/>
            <a:ext cx="7089223" cy="8343901"/>
            <a:chOff x="849305" y="1212852"/>
            <a:chExt cx="4376064" cy="5150556"/>
          </a:xfrm>
        </p:grpSpPr>
        <p:sp>
          <p:nvSpPr>
            <p:cNvPr id="4" name="Freeform 4"/>
            <p:cNvSpPr/>
            <p:nvPr/>
          </p:nvSpPr>
          <p:spPr>
            <a:xfrm>
              <a:off x="849305" y="1212852"/>
              <a:ext cx="4376064" cy="5150556"/>
            </a:xfrm>
            <a:custGeom>
              <a:avLst/>
              <a:gdLst/>
              <a:ahLst/>
              <a:cxnLst/>
              <a:rect l="l" t="t" r="r" b="b"/>
              <a:pathLst>
                <a:path w="5222731" h="6350000">
                  <a:moveTo>
                    <a:pt x="5222731" y="0"/>
                  </a:moveTo>
                  <a:lnTo>
                    <a:pt x="5222731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2338335" y="0"/>
                    <a:pt x="5222731" y="0"/>
                  </a:cubicBezTo>
                  <a:close/>
                </a:path>
              </a:pathLst>
            </a:custGeom>
            <a:blipFill>
              <a:blip r:embed="rId2"/>
              <a:stretch>
                <a:fillRect l="-41354" r="-41354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227526" y="2941922"/>
            <a:ext cx="8115300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b="1" dirty="0"/>
              <a:t>AI Workforce Management</a:t>
            </a:r>
          </a:p>
          <a:p>
            <a:endParaRPr lang="en-IN" sz="2800" b="1" dirty="0"/>
          </a:p>
          <a:p>
            <a:r>
              <a:rPr lang="en-IN" sz="2800" b="1" dirty="0"/>
              <a:t>Smart Staffing</a:t>
            </a:r>
            <a:r>
              <a:rPr lang="en-IN" sz="2800" dirty="0"/>
              <a:t>: AI skill matching &amp; predictive analytics</a:t>
            </a:r>
          </a:p>
          <a:p>
            <a:endParaRPr lang="en-IN" sz="2800" dirty="0"/>
          </a:p>
          <a:p>
            <a:r>
              <a:rPr lang="en-IN" sz="2800" b="1" dirty="0"/>
              <a:t>Bench Risk Alerts</a:t>
            </a:r>
            <a:r>
              <a:rPr lang="en-IN" sz="2800" dirty="0"/>
              <a:t>: Early identification &amp; proactive planning</a:t>
            </a:r>
          </a:p>
          <a:p>
            <a:endParaRPr lang="en-IN" sz="2800" dirty="0"/>
          </a:p>
          <a:p>
            <a:r>
              <a:rPr lang="en-IN" sz="2800" b="1" dirty="0"/>
              <a:t>Data Insights</a:t>
            </a:r>
            <a:r>
              <a:rPr lang="en-IN" sz="2800" dirty="0"/>
              <a:t>: Better HR &amp; training decisions</a:t>
            </a:r>
          </a:p>
          <a:p>
            <a:endParaRPr lang="en-IN" sz="2800" dirty="0"/>
          </a:p>
          <a:p>
            <a:r>
              <a:rPr lang="en-IN" sz="2800" b="1" dirty="0"/>
              <a:t>Efficiency Boost</a:t>
            </a:r>
            <a:r>
              <a:rPr lang="en-IN" sz="2800" dirty="0"/>
              <a:t>: Higher utilization &amp; productivity</a:t>
            </a:r>
          </a:p>
          <a:p>
            <a:endParaRPr lang="en-IN" sz="2800" dirty="0"/>
          </a:p>
          <a:p>
            <a:r>
              <a:rPr lang="en-IN" sz="2800" b="1" dirty="0"/>
              <a:t>Future‑Ready</a:t>
            </a:r>
            <a:r>
              <a:rPr lang="en-IN" sz="2800" dirty="0"/>
              <a:t>: Reduced bench time, optimized allocation, stronger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30412" y="1028700"/>
            <a:ext cx="9827176" cy="104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4"/>
              </a:lnSpc>
            </a:pPr>
            <a:r>
              <a:rPr lang="en-US" sz="84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3733800" y="3009900"/>
            <a:ext cx="11325931" cy="239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59"/>
              </a:lnSpc>
            </a:pPr>
            <a:r>
              <a:rPr lang="en-US" sz="19186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-2032069">
            <a:off x="14291321" y="3547859"/>
            <a:ext cx="3658235" cy="3452043"/>
          </a:xfrm>
          <a:custGeom>
            <a:avLst/>
            <a:gdLst/>
            <a:ahLst/>
            <a:cxnLst/>
            <a:rect l="l" t="t" r="r" b="b"/>
            <a:pathLst>
              <a:path w="3658235" h="3452043">
                <a:moveTo>
                  <a:pt x="0" y="0"/>
                </a:moveTo>
                <a:lnTo>
                  <a:pt x="3658234" y="0"/>
                </a:lnTo>
                <a:lnTo>
                  <a:pt x="3658234" y="3452043"/>
                </a:lnTo>
                <a:lnTo>
                  <a:pt x="0" y="3452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950465">
            <a:off x="1934067" y="2941638"/>
            <a:ext cx="2048668" cy="1933198"/>
          </a:xfrm>
          <a:custGeom>
            <a:avLst/>
            <a:gdLst/>
            <a:ahLst/>
            <a:cxnLst/>
            <a:rect l="l" t="t" r="r" b="b"/>
            <a:pathLst>
              <a:path w="2048668" h="1933198">
                <a:moveTo>
                  <a:pt x="0" y="0"/>
                </a:moveTo>
                <a:lnTo>
                  <a:pt x="2048668" y="0"/>
                </a:lnTo>
                <a:lnTo>
                  <a:pt x="2048668" y="1933198"/>
                </a:lnTo>
                <a:lnTo>
                  <a:pt x="0" y="193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59</TotalTime>
  <Words>770</Words>
  <Application>Microsoft Office PowerPoint</Application>
  <PresentationFormat>Custom</PresentationFormat>
  <Paragraphs>182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Canva Sans</vt:lpstr>
      <vt:lpstr>Montserrat</vt:lpstr>
      <vt:lpstr>Aptos</vt:lpstr>
      <vt:lpstr>Squada One</vt:lpstr>
      <vt:lpstr>Rockwell</vt:lpstr>
      <vt:lpstr>Bookman Old Style</vt:lpstr>
      <vt:lpstr>Canva Sans Bold</vt:lpstr>
      <vt:lpstr>Arial</vt:lpstr>
      <vt:lpstr>Montserrat Bold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Artificial Intelligence Presentation</dc:title>
  <dc:creator>Samiksha &amp; Saachi</dc:creator>
  <cp:lastModifiedBy>Poorva Wakade</cp:lastModifiedBy>
  <cp:revision>5</cp:revision>
  <dcterms:created xsi:type="dcterms:W3CDTF">2006-08-16T00:00:00Z</dcterms:created>
  <dcterms:modified xsi:type="dcterms:W3CDTF">2026-03-14T15:15:27Z</dcterms:modified>
  <dc:identifier>DAHD7DbjRVI</dc:identifier>
</cp:coreProperties>
</file>